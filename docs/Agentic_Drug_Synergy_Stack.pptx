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Zetaris turns the model's millions of predictions per cell line into a ranked list. Filters 1 and 2 run as SQL, so they give the same result every time, and the agent only sees the top-ranked pairs.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 is where filter 3 happens during the hackathon. The agent prompt sets how each pair is judged; the agent behind the UI runs separately in a framework such as LangGraph or CrewAI.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Meterless makes filter 3 cheaper and more consistent across many pairs. Its savings figures are modelled by the project, so we will measure them against a run without Meterless.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ool panel"/>
          <p:cNvSpPr/>
          <p:nvPr/>
        </p:nvSpPr>
        <p:spPr>
          <a:xfrm>
            <a:off x="0" y="0"/>
            <a:ext cx="4480560" cy="6858000"/>
          </a:xfrm>
          <a:prstGeom prst="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1051560"/>
            <a:ext cx="3566160" cy="868680"/>
          </a:xfrm>
        </p:spPr>
        <p:txBody>
          <a:bodyPr lIns="0" rIns="0" tIns="0" bIns="0" anchor="t"/>
          <a:lstStyle/>
          <a:p>
            <a:pPr algn="l"/>
            <a:r>
              <a:rPr sz="4400" b="1">
                <a:solidFill>
                  <a:srgbClr val="FFFFFF"/>
                </a:solidFill>
                <a:latin typeface="Cambria"/>
              </a:rPr>
              <a:t>Zetaris</a:t>
            </a:r>
          </a:p>
        </p:txBody>
      </p:sp>
      <p:sp>
        <p:nvSpPr>
          <p:cNvPr id="4" name="Kicker"/>
          <p:cNvSpPr txBox="1"/>
          <p:nvPr/>
        </p:nvSpPr>
        <p:spPr>
          <a:xfrm>
            <a:off x="548640" y="685800"/>
            <a:ext cx="3566160" cy="320040"/>
          </a:xfrm>
          <a:prstGeom prst="rect">
            <a:avLst/>
          </a:prstGeom>
          <a:noFill/>
        </p:spPr>
        <p:txBody>
          <a:bodyPr wrap="square" lIns="0" rIns="0" tIns="0" bIns="0" anchor="t">
            <a:spAutoFit/>
          </a:bodyPr>
          <a:lstStyle/>
          <a:p>
            <a:pPr algn="l"/>
            <a:r>
              <a:rPr sz="1200" b="1" i="0">
                <a:solidFill>
                  <a:srgbClr val="F4B39E"/>
                </a:solidFill>
                <a:latin typeface="Calibri"/>
              </a:rPr>
              <a:t>THE DATA LAYER</a:t>
            </a:r>
          </a:p>
        </p:txBody>
      </p:sp>
      <p:sp>
        <p:nvSpPr>
          <p:cNvPr id="5" name="Tagline"/>
          <p:cNvSpPr txBox="1"/>
          <p:nvPr/>
        </p:nvSpPr>
        <p:spPr>
          <a:xfrm>
            <a:off x="548640" y="1965960"/>
            <a:ext cx="3566160" cy="731520"/>
          </a:xfrm>
          <a:prstGeom prst="rect">
            <a:avLst/>
          </a:prstGeom>
          <a:noFill/>
        </p:spPr>
        <p:txBody>
          <a:bodyPr wrap="square" lIns="0" rIns="0" tIns="0" bIns="0" anchor="t">
            <a:spAutoFit/>
          </a:bodyPr>
          <a:lstStyle/>
          <a:p>
            <a:pPr algn="l"/>
            <a:r>
              <a:rPr sz="1800" b="0" i="1">
                <a:solidFill>
                  <a:srgbClr val="D4E6E3"/>
                </a:solidFill>
                <a:latin typeface="Cambria"/>
              </a:rPr>
              <a:t>From millions of predicted pairs to a ranked shortlist</a:t>
            </a:r>
          </a:p>
        </p:txBody>
      </p:sp>
      <p:sp>
        <p:nvSpPr>
          <p:cNvPr id="6" name="What heading"/>
          <p:cNvSpPr txBox="1"/>
          <p:nvPr/>
        </p:nvSpPr>
        <p:spPr>
          <a:xfrm>
            <a:off x="548640" y="3063240"/>
            <a:ext cx="3566160" cy="320040"/>
          </a:xfrm>
          <a:prstGeom prst="rect">
            <a:avLst/>
          </a:prstGeom>
          <a:noFill/>
        </p:spPr>
        <p:txBody>
          <a:bodyPr wrap="square" lIns="0" rIns="0" tIns="0" bIns="0" anchor="t">
            <a:spAutoFit/>
          </a:bodyPr>
          <a:lstStyle/>
          <a:p>
            <a:pPr algn="l"/>
            <a:r>
              <a:rPr sz="1400" b="1" i="0">
                <a:solidFill>
                  <a:srgbClr val="F4B39E"/>
                </a:solidFill>
                <a:latin typeface="Calibri"/>
              </a:rPr>
              <a:t>What it is</a:t>
            </a:r>
          </a:p>
        </p:txBody>
      </p:sp>
      <p:sp>
        <p:nvSpPr>
          <p:cNvPr id="7" name="What it is"/>
          <p:cNvSpPr txBox="1"/>
          <p:nvPr/>
        </p:nvSpPr>
        <p:spPr>
          <a:xfrm>
            <a:off x="548640" y="3429000"/>
            <a:ext cx="3520440" cy="2743200"/>
          </a:xfrm>
          <a:prstGeom prst="rect">
            <a:avLst/>
          </a:prstGeom>
          <a:noFill/>
        </p:spPr>
        <p:txBody>
          <a:bodyPr wrap="square" lIns="0" rIns="0" tIns="0" bIns="0" anchor="t">
            <a:spAutoFit/>
          </a:bodyPr>
          <a:lstStyle/>
          <a:p>
            <a:pPr algn="l"/>
            <a:r>
              <a:rPr sz="1500" b="0" i="0">
                <a:solidFill>
                  <a:srgbClr val="FFFFFF"/>
                </a:solidFill>
                <a:latin typeface="Calibri"/>
              </a:rPr>
              <a:t>A data platform that connects to data where it already lives, in databases, files and web APIs, and queries it together with SQL. Its Unified Semantic Layer (USL) turns that data into governed tables with keys, relationships and data quality rules.</a:t>
            </a:r>
          </a:p>
        </p:txBody>
      </p:sp>
      <p:sp>
        <p:nvSpPr>
          <p:cNvPr id="8" name="Section heading"/>
          <p:cNvSpPr txBox="1"/>
          <p:nvPr/>
        </p:nvSpPr>
        <p:spPr>
          <a:xfrm>
            <a:off x="5029200" y="640080"/>
            <a:ext cx="6675120" cy="548640"/>
          </a:xfrm>
          <a:prstGeom prst="rect">
            <a:avLst/>
          </a:prstGeom>
          <a:noFill/>
        </p:spPr>
        <p:txBody>
          <a:bodyPr wrap="square" lIns="0" rIns="0" tIns="0" bIns="0" anchor="t">
            <a:spAutoFit/>
          </a:bodyPr>
          <a:lstStyle/>
          <a:p>
            <a:pPr algn="l"/>
            <a:r>
              <a:rPr sz="2600" b="1" i="0">
                <a:solidFill>
                  <a:srgbClr val="1B2A2F"/>
                </a:solidFill>
                <a:latin typeface="Cambria"/>
              </a:rPr>
              <a:t>How we use it in the project</a:t>
            </a:r>
          </a:p>
        </p:txBody>
      </p:sp>
      <p:sp>
        <p:nvSpPr>
          <p:cNvPr id="9" name="Step 1 marker"/>
          <p:cNvSpPr/>
          <p:nvPr/>
        </p:nvSpPr>
        <p:spPr>
          <a:xfrm>
            <a:off x="5029200" y="1600200"/>
            <a:ext cx="566928" cy="566928"/>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10" name="Use 1 heading"/>
          <p:cNvSpPr txBox="1"/>
          <p:nvPr/>
        </p:nvSpPr>
        <p:spPr>
          <a:xfrm>
            <a:off x="5852160" y="1618488"/>
            <a:ext cx="5852160" cy="384048"/>
          </a:xfrm>
          <a:prstGeom prst="rect">
            <a:avLst/>
          </a:prstGeom>
          <a:noFill/>
        </p:spPr>
        <p:txBody>
          <a:bodyPr wrap="square" lIns="0" rIns="0" tIns="0" bIns="0" anchor="t">
            <a:spAutoFit/>
          </a:bodyPr>
          <a:lstStyle/>
          <a:p>
            <a:pPr algn="l"/>
            <a:r>
              <a:rPr sz="1900" b="1" i="0">
                <a:solidFill>
                  <a:srgbClr val="0F6E6A"/>
                </a:solidFill>
                <a:latin typeface="Calibri"/>
              </a:rPr>
              <a:t>Predictions and reference data in one layer</a:t>
            </a:r>
          </a:p>
        </p:txBody>
      </p:sp>
      <p:sp>
        <p:nvSpPr>
          <p:cNvPr id="11" name="Use 1 detail"/>
          <p:cNvSpPr txBox="1"/>
          <p:nvPr/>
        </p:nvSpPr>
        <p:spPr>
          <a:xfrm>
            <a:off x="5852160" y="2057400"/>
            <a:ext cx="5852160" cy="914400"/>
          </a:xfrm>
          <a:prstGeom prst="rect">
            <a:avLst/>
          </a:prstGeom>
          <a:noFill/>
        </p:spPr>
        <p:txBody>
          <a:bodyPr wrap="square" lIns="0" rIns="0" tIns="0" bIns="0" anchor="t">
            <a:spAutoFit/>
          </a:bodyPr>
          <a:lstStyle/>
          <a:p>
            <a:pPr algn="l"/>
            <a:r>
              <a:rPr sz="1500" b="0" i="0">
                <a:solidFill>
                  <a:srgbClr val="1B2A2F"/>
                </a:solidFill>
                <a:latin typeface="Calibri"/>
              </a:rPr>
              <a:t>The model's scores for every drug pair on a cell line, drug orders averaged, joined to the drug and cell line data in one USL.</a:t>
            </a:r>
          </a:p>
        </p:txBody>
      </p:sp>
      <p:sp>
        <p:nvSpPr>
          <p:cNvPr id="12" name="Step 2 marker"/>
          <p:cNvSpPr/>
          <p:nvPr/>
        </p:nvSpPr>
        <p:spPr>
          <a:xfrm>
            <a:off x="5029200" y="3172968"/>
            <a:ext cx="566928" cy="566928"/>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3" name="Use 2 heading"/>
          <p:cNvSpPr txBox="1"/>
          <p:nvPr/>
        </p:nvSpPr>
        <p:spPr>
          <a:xfrm>
            <a:off x="5852160" y="3191256"/>
            <a:ext cx="5852160" cy="384048"/>
          </a:xfrm>
          <a:prstGeom prst="rect">
            <a:avLst/>
          </a:prstGeom>
          <a:noFill/>
        </p:spPr>
        <p:txBody>
          <a:bodyPr wrap="square" lIns="0" rIns="0" tIns="0" bIns="0" anchor="t">
            <a:spAutoFit/>
          </a:bodyPr>
          <a:lstStyle/>
          <a:p>
            <a:pPr algn="l"/>
            <a:r>
              <a:rPr sz="1900" b="1" i="0">
                <a:solidFill>
                  <a:srgbClr val="0F6E6A"/>
                </a:solidFill>
                <a:latin typeface="Calibri"/>
              </a:rPr>
              <a:t>Filters 1 and 2 as SQL</a:t>
            </a:r>
          </a:p>
        </p:txBody>
      </p:sp>
      <p:sp>
        <p:nvSpPr>
          <p:cNvPr id="14" name="Use 2 detail"/>
          <p:cNvSpPr txBox="1"/>
          <p:nvPr/>
        </p:nvSpPr>
        <p:spPr>
          <a:xfrm>
            <a:off x="5852160" y="3630168"/>
            <a:ext cx="5852160" cy="914400"/>
          </a:xfrm>
          <a:prstGeom prst="rect">
            <a:avLst/>
          </a:prstGeom>
          <a:noFill/>
        </p:spPr>
        <p:txBody>
          <a:bodyPr wrap="square" lIns="0" rIns="0" tIns="0" bIns="0" anchor="t">
            <a:spAutoFit/>
          </a:bodyPr>
          <a:lstStyle/>
          <a:p>
            <a:pPr algn="l"/>
            <a:r>
              <a:rPr sz="1500" b="0" i="0">
                <a:solidFill>
                  <a:srgbClr val="1B2A2F"/>
                </a:solidFill>
                <a:latin typeface="Calibri"/>
              </a:rPr>
              <a:t>Keep pairs with 3 of 4 synergy scores above 5, then rank by confidence (z_HSA of 1 or more): a short, ranked list for the agent.</a:t>
            </a:r>
          </a:p>
        </p:txBody>
      </p:sp>
      <p:sp>
        <p:nvSpPr>
          <p:cNvPr id="15" name="Step 3 marker"/>
          <p:cNvSpPr/>
          <p:nvPr/>
        </p:nvSpPr>
        <p:spPr>
          <a:xfrm>
            <a:off x="5029200" y="4745736"/>
            <a:ext cx="566928" cy="566928"/>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6" name="Use 3 heading"/>
          <p:cNvSpPr txBox="1"/>
          <p:nvPr/>
        </p:nvSpPr>
        <p:spPr>
          <a:xfrm>
            <a:off x="5852160" y="4764023"/>
            <a:ext cx="5852160" cy="384048"/>
          </a:xfrm>
          <a:prstGeom prst="rect">
            <a:avLst/>
          </a:prstGeom>
          <a:noFill/>
        </p:spPr>
        <p:txBody>
          <a:bodyPr wrap="square" lIns="0" rIns="0" tIns="0" bIns="0" anchor="t">
            <a:spAutoFit/>
          </a:bodyPr>
          <a:lstStyle/>
          <a:p>
            <a:pPr algn="l"/>
            <a:r>
              <a:rPr sz="1900" b="1" i="0">
                <a:solidFill>
                  <a:srgbClr val="0F6E6A"/>
                </a:solidFill>
                <a:latin typeface="Calibri"/>
              </a:rPr>
              <a:t>Read-only, traceable access</a:t>
            </a:r>
          </a:p>
        </p:txBody>
      </p:sp>
      <p:sp>
        <p:nvSpPr>
          <p:cNvPr id="17" name="Use 3 detail"/>
          <p:cNvSpPr txBox="1"/>
          <p:nvPr/>
        </p:nvSpPr>
        <p:spPr>
          <a:xfrm>
            <a:off x="5852160" y="5202936"/>
            <a:ext cx="5852160" cy="914400"/>
          </a:xfrm>
          <a:prstGeom prst="rect">
            <a:avLst/>
          </a:prstGeom>
          <a:noFill/>
        </p:spPr>
        <p:txBody>
          <a:bodyPr wrap="square" lIns="0" rIns="0" tIns="0" bIns="0" anchor="t">
            <a:spAutoFit/>
          </a:bodyPr>
          <a:lstStyle/>
          <a:p>
            <a:pPr algn="l"/>
            <a:r>
              <a:rPr sz="1500" b="0" i="0">
                <a:solidFill>
                  <a:srgbClr val="1B2A2F"/>
                </a:solidFill>
                <a:latin typeface="Calibri"/>
              </a:rPr>
              <a:t>A SELECT-only agent user and fixed queries; every agent claim points back to Zetaris rows.</a:t>
            </a:r>
          </a:p>
        </p:txBody>
      </p:sp>
      <p:sp>
        <p:nvSpPr>
          <p:cNvPr id="18" name="Footer"/>
          <p:cNvSpPr txBox="1"/>
          <p:nvPr/>
        </p:nvSpPr>
        <p:spPr>
          <a:xfrm>
            <a:off x="5029200" y="6355080"/>
            <a:ext cx="5486400" cy="274320"/>
          </a:xfrm>
          <a:prstGeom prst="rect">
            <a:avLst/>
          </a:prstGeom>
          <a:noFill/>
        </p:spPr>
        <p:txBody>
          <a:bodyPr wrap="square" lIns="0" rIns="0" tIns="0" bIns="0" anchor="t">
            <a:spAutoFit/>
          </a:bodyPr>
          <a:lstStyle/>
          <a:p>
            <a:pPr algn="l"/>
            <a:r>
              <a:rPr sz="1000" b="0" i="0">
                <a:solidFill>
                  <a:srgbClr val="5F6F73"/>
                </a:solidFill>
                <a:latin typeface="Calibri"/>
              </a:rPr>
              <a:t>Agentic drug synergy  ·  hackathon proposal</a:t>
            </a:r>
          </a:p>
        </p:txBody>
      </p:sp>
      <p:sp>
        <p:nvSpPr>
          <p:cNvPr id="19" name="Slide number"/>
          <p:cNvSpPr txBox="1"/>
          <p:nvPr/>
        </p:nvSpPr>
        <p:spPr>
          <a:xfrm>
            <a:off x="10789920" y="6355080"/>
            <a:ext cx="914400" cy="274320"/>
          </a:xfrm>
          <a:prstGeom prst="rect">
            <a:avLst/>
          </a:prstGeom>
          <a:noFill/>
        </p:spPr>
        <p:txBody>
          <a:bodyPr wrap="square" lIns="0" rIns="0" tIns="0" bIns="0" anchor="t">
            <a:spAutoFit/>
          </a:bodyPr>
          <a:lstStyle/>
          <a:p>
            <a:pPr algn="r"/>
            <a:r>
              <a:rPr sz="1000" b="0" i="0">
                <a:solidFill>
                  <a:srgbClr val="5F6F73"/>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ool panel"/>
          <p:cNvSpPr/>
          <p:nvPr/>
        </p:nvSpPr>
        <p:spPr>
          <a:xfrm>
            <a:off x="0" y="0"/>
            <a:ext cx="4480560" cy="6858000"/>
          </a:xfrm>
          <a:prstGeom prst="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1051560"/>
            <a:ext cx="3566160" cy="868680"/>
          </a:xfrm>
        </p:spPr>
        <p:txBody>
          <a:bodyPr lIns="0" rIns="0" tIns="0" bIns="0" anchor="t"/>
          <a:lstStyle/>
          <a:p>
            <a:pPr algn="l"/>
            <a:r>
              <a:rPr sz="4400" b="1">
                <a:solidFill>
                  <a:srgbClr val="FFFFFF"/>
                </a:solidFill>
                <a:latin typeface="Cambria"/>
              </a:rPr>
              <a:t>Cursor</a:t>
            </a:r>
          </a:p>
        </p:txBody>
      </p:sp>
      <p:sp>
        <p:nvSpPr>
          <p:cNvPr id="4" name="Kicker"/>
          <p:cNvSpPr txBox="1"/>
          <p:nvPr/>
        </p:nvSpPr>
        <p:spPr>
          <a:xfrm>
            <a:off x="548640" y="685800"/>
            <a:ext cx="3566160" cy="320040"/>
          </a:xfrm>
          <a:prstGeom prst="rect">
            <a:avLst/>
          </a:prstGeom>
          <a:noFill/>
        </p:spPr>
        <p:txBody>
          <a:bodyPr wrap="square" lIns="0" rIns="0" tIns="0" bIns="0" anchor="t">
            <a:spAutoFit/>
          </a:bodyPr>
          <a:lstStyle/>
          <a:p>
            <a:pPr algn="l"/>
            <a:r>
              <a:rPr sz="1200" b="1" i="0">
                <a:solidFill>
                  <a:srgbClr val="F4B39E"/>
                </a:solidFill>
                <a:latin typeface="Calibri"/>
              </a:rPr>
              <a:t>THE AGENT WORKSPACE</a:t>
            </a:r>
          </a:p>
        </p:txBody>
      </p:sp>
      <p:sp>
        <p:nvSpPr>
          <p:cNvPr id="5" name="Tagline"/>
          <p:cNvSpPr txBox="1"/>
          <p:nvPr/>
        </p:nvSpPr>
        <p:spPr>
          <a:xfrm>
            <a:off x="548640" y="1965960"/>
            <a:ext cx="3566160" cy="731520"/>
          </a:xfrm>
          <a:prstGeom prst="rect">
            <a:avLst/>
          </a:prstGeom>
          <a:noFill/>
        </p:spPr>
        <p:txBody>
          <a:bodyPr wrap="square" lIns="0" rIns="0" tIns="0" bIns="0" anchor="t">
            <a:spAutoFit/>
          </a:bodyPr>
          <a:lstStyle/>
          <a:p>
            <a:pPr algn="l"/>
            <a:r>
              <a:rPr sz="1800" b="0" i="1">
                <a:solidFill>
                  <a:srgbClr val="D4E6E3"/>
                </a:solidFill>
                <a:latin typeface="Cambria"/>
              </a:rPr>
              <a:t>Where the team builds and runs the agent</a:t>
            </a:r>
          </a:p>
        </p:txBody>
      </p:sp>
      <p:sp>
        <p:nvSpPr>
          <p:cNvPr id="6" name="What heading"/>
          <p:cNvSpPr txBox="1"/>
          <p:nvPr/>
        </p:nvSpPr>
        <p:spPr>
          <a:xfrm>
            <a:off x="548640" y="3063240"/>
            <a:ext cx="3566160" cy="320040"/>
          </a:xfrm>
          <a:prstGeom prst="rect">
            <a:avLst/>
          </a:prstGeom>
          <a:noFill/>
        </p:spPr>
        <p:txBody>
          <a:bodyPr wrap="square" lIns="0" rIns="0" tIns="0" bIns="0" anchor="t">
            <a:spAutoFit/>
          </a:bodyPr>
          <a:lstStyle/>
          <a:p>
            <a:pPr algn="l"/>
            <a:r>
              <a:rPr sz="1400" b="1" i="0">
                <a:solidFill>
                  <a:srgbClr val="F4B39E"/>
                </a:solidFill>
                <a:latin typeface="Calibri"/>
              </a:rPr>
              <a:t>What it is</a:t>
            </a:r>
          </a:p>
        </p:txBody>
      </p:sp>
      <p:sp>
        <p:nvSpPr>
          <p:cNvPr id="7" name="What it is"/>
          <p:cNvSpPr txBox="1"/>
          <p:nvPr/>
        </p:nvSpPr>
        <p:spPr>
          <a:xfrm>
            <a:off x="548640" y="3429000"/>
            <a:ext cx="3520440" cy="2743200"/>
          </a:xfrm>
          <a:prstGeom prst="rect">
            <a:avLst/>
          </a:prstGeom>
          <a:noFill/>
        </p:spPr>
        <p:txBody>
          <a:bodyPr wrap="square" lIns="0" rIns="0" tIns="0" bIns="0" anchor="t">
            <a:spAutoFit/>
          </a:bodyPr>
          <a:lstStyle/>
          <a:p>
            <a:pPr algn="l"/>
            <a:r>
              <a:rPr sz="1500" b="0" i="0">
                <a:solidFill>
                  <a:srgbClr val="FFFFFF"/>
                </a:solidFill>
                <a:latin typeface="Calibri"/>
              </a:rPr>
              <a:t>An AI code editor built on VS Code. Its Agent reads and writes code, runs commands and calls external tools through MCP, the standard plug between AI assistants and tools. The team chooses which AI model it uses.</a:t>
            </a:r>
          </a:p>
        </p:txBody>
      </p:sp>
      <p:sp>
        <p:nvSpPr>
          <p:cNvPr id="8" name="Section heading"/>
          <p:cNvSpPr txBox="1"/>
          <p:nvPr/>
        </p:nvSpPr>
        <p:spPr>
          <a:xfrm>
            <a:off x="5029200" y="640080"/>
            <a:ext cx="6675120" cy="548640"/>
          </a:xfrm>
          <a:prstGeom prst="rect">
            <a:avLst/>
          </a:prstGeom>
          <a:noFill/>
        </p:spPr>
        <p:txBody>
          <a:bodyPr wrap="square" lIns="0" rIns="0" tIns="0" bIns="0" anchor="t">
            <a:spAutoFit/>
          </a:bodyPr>
          <a:lstStyle/>
          <a:p>
            <a:pPr algn="l"/>
            <a:r>
              <a:rPr sz="2600" b="1" i="0">
                <a:solidFill>
                  <a:srgbClr val="1B2A2F"/>
                </a:solidFill>
                <a:latin typeface="Cambria"/>
              </a:rPr>
              <a:t>How we use it in the project</a:t>
            </a:r>
          </a:p>
        </p:txBody>
      </p:sp>
      <p:sp>
        <p:nvSpPr>
          <p:cNvPr id="9" name="Step 1 marker"/>
          <p:cNvSpPr/>
          <p:nvPr/>
        </p:nvSpPr>
        <p:spPr>
          <a:xfrm>
            <a:off x="5029200" y="1600200"/>
            <a:ext cx="566928" cy="566928"/>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10" name="Use 1 heading"/>
          <p:cNvSpPr txBox="1"/>
          <p:nvPr/>
        </p:nvSpPr>
        <p:spPr>
          <a:xfrm>
            <a:off x="5852160" y="1618488"/>
            <a:ext cx="5852160" cy="384048"/>
          </a:xfrm>
          <a:prstGeom prst="rect">
            <a:avLst/>
          </a:prstGeom>
          <a:noFill/>
        </p:spPr>
        <p:txBody>
          <a:bodyPr wrap="square" lIns="0" rIns="0" tIns="0" bIns="0" anchor="t">
            <a:spAutoFit/>
          </a:bodyPr>
          <a:lstStyle/>
          <a:p>
            <a:pPr algn="l"/>
            <a:r>
              <a:rPr sz="1900" b="1" i="0">
                <a:solidFill>
                  <a:srgbClr val="0F6E6A"/>
                </a:solidFill>
                <a:latin typeface="Calibri"/>
              </a:rPr>
              <a:t>Connected to Zetaris through MCP</a:t>
            </a:r>
          </a:p>
        </p:txBody>
      </p:sp>
      <p:sp>
        <p:nvSpPr>
          <p:cNvPr id="11" name="Use 1 detail"/>
          <p:cNvSpPr txBox="1"/>
          <p:nvPr/>
        </p:nvSpPr>
        <p:spPr>
          <a:xfrm>
            <a:off x="5852160" y="2057400"/>
            <a:ext cx="5852160" cy="914400"/>
          </a:xfrm>
          <a:prstGeom prst="rect">
            <a:avLst/>
          </a:prstGeom>
          <a:noFill/>
        </p:spPr>
        <p:txBody>
          <a:bodyPr wrap="square" lIns="0" rIns="0" tIns="0" bIns="0" anchor="t">
            <a:spAutoFit/>
          </a:bodyPr>
          <a:lstStyle/>
          <a:p>
            <a:pPr algn="l"/>
            <a:r>
              <a:rPr sz="1500" b="0" i="0">
                <a:solidFill>
                  <a:srgbClr val="1B2A2F"/>
                </a:solidFill>
                <a:latin typeface="Calibri"/>
              </a:rPr>
              <a:t>Read-only tools: drug mechanism and targets, cell line details, predictions, and whether a pair was already measured.</a:t>
            </a:r>
          </a:p>
        </p:txBody>
      </p:sp>
      <p:sp>
        <p:nvSpPr>
          <p:cNvPr id="12" name="Step 2 marker"/>
          <p:cNvSpPr/>
          <p:nvPr/>
        </p:nvSpPr>
        <p:spPr>
          <a:xfrm>
            <a:off x="5029200" y="3172968"/>
            <a:ext cx="566928" cy="566928"/>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3" name="Use 2 heading"/>
          <p:cNvSpPr txBox="1"/>
          <p:nvPr/>
        </p:nvSpPr>
        <p:spPr>
          <a:xfrm>
            <a:off x="5852160" y="3191256"/>
            <a:ext cx="5852160" cy="384048"/>
          </a:xfrm>
          <a:prstGeom prst="rect">
            <a:avLst/>
          </a:prstGeom>
          <a:noFill/>
        </p:spPr>
        <p:txBody>
          <a:bodyPr wrap="square" lIns="0" rIns="0" tIns="0" bIns="0" anchor="t">
            <a:spAutoFit/>
          </a:bodyPr>
          <a:lstStyle/>
          <a:p>
            <a:pPr algn="l"/>
            <a:r>
              <a:rPr sz="1900" b="1" i="0">
                <a:solidFill>
                  <a:srgbClr val="0F6E6A"/>
                </a:solidFill>
                <a:latin typeface="Calibri"/>
              </a:rPr>
              <a:t>Filter 3 with the team's agent prompt</a:t>
            </a:r>
          </a:p>
        </p:txBody>
      </p:sp>
      <p:sp>
        <p:nvSpPr>
          <p:cNvPr id="14" name="Use 2 detail"/>
          <p:cNvSpPr txBox="1"/>
          <p:nvPr/>
        </p:nvSpPr>
        <p:spPr>
          <a:xfrm>
            <a:off x="5852160" y="3630168"/>
            <a:ext cx="5852160" cy="914400"/>
          </a:xfrm>
          <a:prstGeom prst="rect">
            <a:avLst/>
          </a:prstGeom>
          <a:noFill/>
        </p:spPr>
        <p:txBody>
          <a:bodyPr wrap="square" lIns="0" rIns="0" tIns="0" bIns="0" anchor="t">
            <a:spAutoFit/>
          </a:bodyPr>
          <a:lstStyle/>
          <a:p>
            <a:pPr algn="l"/>
            <a:r>
              <a:rPr sz="1500" b="0" i="0">
                <a:solidFill>
                  <a:srgbClr val="1B2A2F"/>
                </a:solidFill>
                <a:latin typeface="Calibri"/>
              </a:rPr>
              <a:t>The agent works down the ranked list and keeps pairs the literature or the drugs' biology supports, until about ten remain.</a:t>
            </a:r>
          </a:p>
        </p:txBody>
      </p:sp>
      <p:sp>
        <p:nvSpPr>
          <p:cNvPr id="15" name="Step 3 marker"/>
          <p:cNvSpPr/>
          <p:nvPr/>
        </p:nvSpPr>
        <p:spPr>
          <a:xfrm>
            <a:off x="5029200" y="4745736"/>
            <a:ext cx="566928" cy="566928"/>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6" name="Use 3 heading"/>
          <p:cNvSpPr txBox="1"/>
          <p:nvPr/>
        </p:nvSpPr>
        <p:spPr>
          <a:xfrm>
            <a:off x="5852160" y="4764023"/>
            <a:ext cx="5852160" cy="384048"/>
          </a:xfrm>
          <a:prstGeom prst="rect">
            <a:avLst/>
          </a:prstGeom>
          <a:noFill/>
        </p:spPr>
        <p:txBody>
          <a:bodyPr wrap="square" lIns="0" rIns="0" tIns="0" bIns="0" anchor="t">
            <a:spAutoFit/>
          </a:bodyPr>
          <a:lstStyle/>
          <a:p>
            <a:pPr algn="l"/>
            <a:r>
              <a:rPr sz="1900" b="1" i="0">
                <a:solidFill>
                  <a:srgbClr val="0F6E6A"/>
                </a:solidFill>
                <a:latin typeface="Calibri"/>
              </a:rPr>
              <a:t>Answers and code in one place</a:t>
            </a:r>
          </a:p>
        </p:txBody>
      </p:sp>
      <p:sp>
        <p:nvSpPr>
          <p:cNvPr id="17" name="Use 3 detail"/>
          <p:cNvSpPr txBox="1"/>
          <p:nvPr/>
        </p:nvSpPr>
        <p:spPr>
          <a:xfrm>
            <a:off x="5852160" y="5202936"/>
            <a:ext cx="5852160" cy="914400"/>
          </a:xfrm>
          <a:prstGeom prst="rect">
            <a:avLst/>
          </a:prstGeom>
          <a:noFill/>
        </p:spPr>
        <p:txBody>
          <a:bodyPr wrap="square" lIns="0" rIns="0" tIns="0" bIns="0" anchor="t">
            <a:spAutoFit/>
          </a:bodyPr>
          <a:lstStyle/>
          <a:p>
            <a:pPr algn="l"/>
            <a:r>
              <a:rPr sz="1500" b="0" i="0">
                <a:solidFill>
                  <a:srgbClr val="1B2A2F"/>
                </a:solidFill>
                <a:latin typeface="Calibri"/>
              </a:rPr>
              <a:t>Answer the standard questions for each shortlisted pair, and build the backend API for the Explorer UI.</a:t>
            </a:r>
          </a:p>
        </p:txBody>
      </p:sp>
      <p:sp>
        <p:nvSpPr>
          <p:cNvPr id="18" name="Footer"/>
          <p:cNvSpPr txBox="1"/>
          <p:nvPr/>
        </p:nvSpPr>
        <p:spPr>
          <a:xfrm>
            <a:off x="5029200" y="6355080"/>
            <a:ext cx="5486400" cy="274320"/>
          </a:xfrm>
          <a:prstGeom prst="rect">
            <a:avLst/>
          </a:prstGeom>
          <a:noFill/>
        </p:spPr>
        <p:txBody>
          <a:bodyPr wrap="square" lIns="0" rIns="0" tIns="0" bIns="0" anchor="t">
            <a:spAutoFit/>
          </a:bodyPr>
          <a:lstStyle/>
          <a:p>
            <a:pPr algn="l"/>
            <a:r>
              <a:rPr sz="1000" b="0" i="0">
                <a:solidFill>
                  <a:srgbClr val="5F6F73"/>
                </a:solidFill>
                <a:latin typeface="Calibri"/>
              </a:rPr>
              <a:t>Agentic drug synergy  ·  hackathon proposal</a:t>
            </a:r>
          </a:p>
        </p:txBody>
      </p:sp>
      <p:sp>
        <p:nvSpPr>
          <p:cNvPr id="19" name="Slide number"/>
          <p:cNvSpPr txBox="1"/>
          <p:nvPr/>
        </p:nvSpPr>
        <p:spPr>
          <a:xfrm>
            <a:off x="10789920" y="6355080"/>
            <a:ext cx="914400" cy="274320"/>
          </a:xfrm>
          <a:prstGeom prst="rect">
            <a:avLst/>
          </a:prstGeom>
          <a:noFill/>
        </p:spPr>
        <p:txBody>
          <a:bodyPr wrap="square" lIns="0" rIns="0" tIns="0" bIns="0" anchor="t">
            <a:spAutoFit/>
          </a:bodyPr>
          <a:lstStyle/>
          <a:p>
            <a:pPr algn="r"/>
            <a:r>
              <a:rPr sz="1000" b="0" i="0">
                <a:solidFill>
                  <a:srgbClr val="5F6F73"/>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ool panel"/>
          <p:cNvSpPr/>
          <p:nvPr/>
        </p:nvSpPr>
        <p:spPr>
          <a:xfrm>
            <a:off x="0" y="0"/>
            <a:ext cx="4480560" cy="6858000"/>
          </a:xfrm>
          <a:prstGeom prst="rect">
            <a:avLst/>
          </a:prstGeom>
          <a:solidFill>
            <a:srgbClr val="0F4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1051560"/>
            <a:ext cx="3566160" cy="868680"/>
          </a:xfrm>
        </p:spPr>
        <p:txBody>
          <a:bodyPr lIns="0" rIns="0" tIns="0" bIns="0" anchor="t"/>
          <a:lstStyle/>
          <a:p>
            <a:pPr algn="l"/>
            <a:r>
              <a:rPr sz="4400" b="1">
                <a:solidFill>
                  <a:srgbClr val="FFFFFF"/>
                </a:solidFill>
                <a:latin typeface="Cambria"/>
              </a:rPr>
              <a:t>Meterless</a:t>
            </a:r>
          </a:p>
        </p:txBody>
      </p:sp>
      <p:sp>
        <p:nvSpPr>
          <p:cNvPr id="4" name="Kicker"/>
          <p:cNvSpPr txBox="1"/>
          <p:nvPr/>
        </p:nvSpPr>
        <p:spPr>
          <a:xfrm>
            <a:off x="548640" y="685800"/>
            <a:ext cx="3566160" cy="320040"/>
          </a:xfrm>
          <a:prstGeom prst="rect">
            <a:avLst/>
          </a:prstGeom>
          <a:noFill/>
        </p:spPr>
        <p:txBody>
          <a:bodyPr wrap="square" lIns="0" rIns="0" tIns="0" bIns="0" anchor="t">
            <a:spAutoFit/>
          </a:bodyPr>
          <a:lstStyle/>
          <a:p>
            <a:pPr algn="l"/>
            <a:r>
              <a:rPr sz="1200" b="1" i="0">
                <a:solidFill>
                  <a:srgbClr val="F4B39E"/>
                </a:solidFill>
                <a:latin typeface="Calibri"/>
              </a:rPr>
              <a:t>MEMORY AND REASONING</a:t>
            </a:r>
          </a:p>
        </p:txBody>
      </p:sp>
      <p:sp>
        <p:nvSpPr>
          <p:cNvPr id="5" name="Tagline"/>
          <p:cNvSpPr txBox="1"/>
          <p:nvPr/>
        </p:nvSpPr>
        <p:spPr>
          <a:xfrm>
            <a:off x="548640" y="1965960"/>
            <a:ext cx="3566160" cy="731520"/>
          </a:xfrm>
          <a:prstGeom prst="rect">
            <a:avLst/>
          </a:prstGeom>
          <a:noFill/>
        </p:spPr>
        <p:txBody>
          <a:bodyPr wrap="square" lIns="0" rIns="0" tIns="0" bIns="0" anchor="t">
            <a:spAutoFit/>
          </a:bodyPr>
          <a:lstStyle/>
          <a:p>
            <a:pPr algn="l"/>
            <a:r>
              <a:rPr sz="1800" b="0" i="1">
                <a:solidFill>
                  <a:srgbClr val="D4E6E3"/>
                </a:solidFill>
                <a:latin typeface="Cambria"/>
              </a:rPr>
              <a:t>Memory and local-first reasoning for the agent</a:t>
            </a:r>
          </a:p>
        </p:txBody>
      </p:sp>
      <p:sp>
        <p:nvSpPr>
          <p:cNvPr id="6" name="What heading"/>
          <p:cNvSpPr txBox="1"/>
          <p:nvPr/>
        </p:nvSpPr>
        <p:spPr>
          <a:xfrm>
            <a:off x="548640" y="3063240"/>
            <a:ext cx="3566160" cy="320040"/>
          </a:xfrm>
          <a:prstGeom prst="rect">
            <a:avLst/>
          </a:prstGeom>
          <a:noFill/>
        </p:spPr>
        <p:txBody>
          <a:bodyPr wrap="square" lIns="0" rIns="0" tIns="0" bIns="0" anchor="t">
            <a:spAutoFit/>
          </a:bodyPr>
          <a:lstStyle/>
          <a:p>
            <a:pPr algn="l"/>
            <a:r>
              <a:rPr sz="1400" b="1" i="0">
                <a:solidFill>
                  <a:srgbClr val="F4B39E"/>
                </a:solidFill>
                <a:latin typeface="Calibri"/>
              </a:rPr>
              <a:t>What it is</a:t>
            </a:r>
          </a:p>
        </p:txBody>
      </p:sp>
      <p:sp>
        <p:nvSpPr>
          <p:cNvPr id="7" name="What it is"/>
          <p:cNvSpPr txBox="1"/>
          <p:nvPr/>
        </p:nvSpPr>
        <p:spPr>
          <a:xfrm>
            <a:off x="548640" y="3429000"/>
            <a:ext cx="3520440" cy="2743200"/>
          </a:xfrm>
          <a:prstGeom prst="rect">
            <a:avLst/>
          </a:prstGeom>
          <a:noFill/>
        </p:spPr>
        <p:txBody>
          <a:bodyPr wrap="square" lIns="0" rIns="0" tIns="0" bIns="0" anchor="t">
            <a:spAutoFit/>
          </a:bodyPr>
          <a:lstStyle/>
          <a:p>
            <a:pPr algn="l"/>
            <a:r>
              <a:rPr sz="1500" b="0" i="0">
                <a:solidFill>
                  <a:srgbClr val="FFFFFF"/>
                </a:solidFill>
                <a:latin typeface="Calibri"/>
              </a:rPr>
              <a:t>An open-source, local-first context layer for AI agents. Its engines add memory (H-MEM), bounded reasoning steps (Markovian) and a knowledge graph (World Model). Its Nightshift app runs models locally and serves them to other apps.</a:t>
            </a:r>
          </a:p>
        </p:txBody>
      </p:sp>
      <p:sp>
        <p:nvSpPr>
          <p:cNvPr id="8" name="Section heading"/>
          <p:cNvSpPr txBox="1"/>
          <p:nvPr/>
        </p:nvSpPr>
        <p:spPr>
          <a:xfrm>
            <a:off x="5029200" y="640080"/>
            <a:ext cx="6675120" cy="548640"/>
          </a:xfrm>
          <a:prstGeom prst="rect">
            <a:avLst/>
          </a:prstGeom>
          <a:noFill/>
        </p:spPr>
        <p:txBody>
          <a:bodyPr wrap="square" lIns="0" rIns="0" tIns="0" bIns="0" anchor="t">
            <a:spAutoFit/>
          </a:bodyPr>
          <a:lstStyle/>
          <a:p>
            <a:pPr algn="l"/>
            <a:r>
              <a:rPr sz="2600" b="1" i="0">
                <a:solidFill>
                  <a:srgbClr val="1B2A2F"/>
                </a:solidFill>
                <a:latin typeface="Cambria"/>
              </a:rPr>
              <a:t>How we use it in the project</a:t>
            </a:r>
          </a:p>
        </p:txBody>
      </p:sp>
      <p:sp>
        <p:nvSpPr>
          <p:cNvPr id="9" name="Step 1 marker"/>
          <p:cNvSpPr/>
          <p:nvPr/>
        </p:nvSpPr>
        <p:spPr>
          <a:xfrm>
            <a:off x="5029200" y="1600200"/>
            <a:ext cx="566928" cy="566928"/>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10" name="Use 1 heading"/>
          <p:cNvSpPr txBox="1"/>
          <p:nvPr/>
        </p:nvSpPr>
        <p:spPr>
          <a:xfrm>
            <a:off x="5852160" y="1618488"/>
            <a:ext cx="5852160" cy="384048"/>
          </a:xfrm>
          <a:prstGeom prst="rect">
            <a:avLst/>
          </a:prstGeom>
          <a:noFill/>
        </p:spPr>
        <p:txBody>
          <a:bodyPr wrap="square" lIns="0" rIns="0" tIns="0" bIns="0" anchor="t">
            <a:spAutoFit/>
          </a:bodyPr>
          <a:lstStyle/>
          <a:p>
            <a:pPr algn="l"/>
            <a:r>
              <a:rPr sz="1900" b="1" i="0">
                <a:solidFill>
                  <a:srgbClr val="0F6E6A"/>
                </a:solidFill>
                <a:latin typeface="Calibri"/>
              </a:rPr>
              <a:t>Memory across pairs (H-MEM)</a:t>
            </a:r>
          </a:p>
        </p:txBody>
      </p:sp>
      <p:sp>
        <p:nvSpPr>
          <p:cNvPr id="11" name="Use 1 detail"/>
          <p:cNvSpPr txBox="1"/>
          <p:nvPr/>
        </p:nvSpPr>
        <p:spPr>
          <a:xfrm>
            <a:off x="5852160" y="2057400"/>
            <a:ext cx="5852160" cy="914400"/>
          </a:xfrm>
          <a:prstGeom prst="rect">
            <a:avLst/>
          </a:prstGeom>
          <a:noFill/>
        </p:spPr>
        <p:txBody>
          <a:bodyPr wrap="square" lIns="0" rIns="0" tIns="0" bIns="0" anchor="t">
            <a:spAutoFit/>
          </a:bodyPr>
          <a:lstStyle/>
          <a:p>
            <a:pPr algn="l"/>
            <a:r>
              <a:rPr sz="1500" b="0" i="0">
                <a:solidFill>
                  <a:srgbClr val="1B2A2F"/>
                </a:solidFill>
                <a:latin typeface="Calibri"/>
              </a:rPr>
              <a:t>Remembers verdicts per drug and for similar drugs, so a drug that recurs in many top pairs is judged once.</a:t>
            </a:r>
          </a:p>
        </p:txBody>
      </p:sp>
      <p:sp>
        <p:nvSpPr>
          <p:cNvPr id="12" name="Step 2 marker"/>
          <p:cNvSpPr/>
          <p:nvPr/>
        </p:nvSpPr>
        <p:spPr>
          <a:xfrm>
            <a:off x="5029200" y="3172968"/>
            <a:ext cx="566928" cy="566928"/>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3" name="Use 2 heading"/>
          <p:cNvSpPr txBox="1"/>
          <p:nvPr/>
        </p:nvSpPr>
        <p:spPr>
          <a:xfrm>
            <a:off x="5852160" y="3191256"/>
            <a:ext cx="5852160" cy="384048"/>
          </a:xfrm>
          <a:prstGeom prst="rect">
            <a:avLst/>
          </a:prstGeom>
          <a:noFill/>
        </p:spPr>
        <p:txBody>
          <a:bodyPr wrap="square" lIns="0" rIns="0" tIns="0" bIns="0" anchor="t">
            <a:spAutoFit/>
          </a:bodyPr>
          <a:lstStyle/>
          <a:p>
            <a:pPr algn="l"/>
            <a:r>
              <a:rPr sz="1900" b="1" i="0">
                <a:solidFill>
                  <a:srgbClr val="0F6E6A"/>
                </a:solidFill>
                <a:latin typeface="Calibri"/>
              </a:rPr>
              <a:t>Small, bounded steps (Markovian)</a:t>
            </a:r>
          </a:p>
        </p:txBody>
      </p:sp>
      <p:sp>
        <p:nvSpPr>
          <p:cNvPr id="14" name="Use 2 detail"/>
          <p:cNvSpPr txBox="1"/>
          <p:nvPr/>
        </p:nvSpPr>
        <p:spPr>
          <a:xfrm>
            <a:off x="5852160" y="3630168"/>
            <a:ext cx="5852160" cy="914400"/>
          </a:xfrm>
          <a:prstGeom prst="rect">
            <a:avLst/>
          </a:prstGeom>
          <a:noFill/>
        </p:spPr>
        <p:txBody>
          <a:bodyPr wrap="square" lIns="0" rIns="0" tIns="0" bIns="0" anchor="t">
            <a:spAutoFit/>
          </a:bodyPr>
          <a:lstStyle/>
          <a:p>
            <a:pPr algn="l"/>
            <a:r>
              <a:rPr sz="1500" b="0" i="0">
                <a:solidFill>
                  <a:srgbClr val="1B2A2F"/>
                </a:solidFill>
                <a:latin typeface="Calibri"/>
              </a:rPr>
              <a:t>Binding affinity, pathway crosstalk, toxicity: each step carries only a compact summary forward.</a:t>
            </a:r>
          </a:p>
        </p:txBody>
      </p:sp>
      <p:sp>
        <p:nvSpPr>
          <p:cNvPr id="15" name="Step 3 marker"/>
          <p:cNvSpPr/>
          <p:nvPr/>
        </p:nvSpPr>
        <p:spPr>
          <a:xfrm>
            <a:off x="5029200" y="4745736"/>
            <a:ext cx="566928" cy="566928"/>
          </a:xfrm>
          <a:prstGeom prst="ellipse">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6" name="Use 3 heading"/>
          <p:cNvSpPr txBox="1"/>
          <p:nvPr/>
        </p:nvSpPr>
        <p:spPr>
          <a:xfrm>
            <a:off x="5852160" y="4764023"/>
            <a:ext cx="5852160" cy="384048"/>
          </a:xfrm>
          <a:prstGeom prst="rect">
            <a:avLst/>
          </a:prstGeom>
          <a:noFill/>
        </p:spPr>
        <p:txBody>
          <a:bodyPr wrap="square" lIns="0" rIns="0" tIns="0" bIns="0" anchor="t">
            <a:spAutoFit/>
          </a:bodyPr>
          <a:lstStyle/>
          <a:p>
            <a:pPr algn="l"/>
            <a:r>
              <a:rPr sz="1900" b="1" i="0">
                <a:solidFill>
                  <a:srgbClr val="0F6E6A"/>
                </a:solidFill>
                <a:latin typeface="Calibri"/>
              </a:rPr>
              <a:t>Local first, cloud last (Nightshift)</a:t>
            </a:r>
          </a:p>
        </p:txBody>
      </p:sp>
      <p:sp>
        <p:nvSpPr>
          <p:cNvPr id="17" name="Use 3 detail"/>
          <p:cNvSpPr txBox="1"/>
          <p:nvPr/>
        </p:nvSpPr>
        <p:spPr>
          <a:xfrm>
            <a:off x="5852160" y="5202936"/>
            <a:ext cx="5852160" cy="914400"/>
          </a:xfrm>
          <a:prstGeom prst="rect">
            <a:avLst/>
          </a:prstGeom>
          <a:noFill/>
        </p:spPr>
        <p:txBody>
          <a:bodyPr wrap="square" lIns="0" rIns="0" tIns="0" bIns="0" anchor="t">
            <a:spAutoFit/>
          </a:bodyPr>
          <a:lstStyle/>
          <a:p>
            <a:pPr algn="l"/>
            <a:r>
              <a:rPr sz="1500" b="0" i="0">
                <a:solidFill>
                  <a:srgbClr val="1B2A2F"/>
                </a:solidFill>
                <a:latin typeface="Calibri"/>
              </a:rPr>
              <a:t>Local models read papers, several attempts are compared and checked, and a cloud model writes the final verdict. To confirm in testing.</a:t>
            </a:r>
          </a:p>
        </p:txBody>
      </p:sp>
      <p:sp>
        <p:nvSpPr>
          <p:cNvPr id="18" name="Footer"/>
          <p:cNvSpPr txBox="1"/>
          <p:nvPr/>
        </p:nvSpPr>
        <p:spPr>
          <a:xfrm>
            <a:off x="5029200" y="6355080"/>
            <a:ext cx="5486400" cy="274320"/>
          </a:xfrm>
          <a:prstGeom prst="rect">
            <a:avLst/>
          </a:prstGeom>
          <a:noFill/>
        </p:spPr>
        <p:txBody>
          <a:bodyPr wrap="square" lIns="0" rIns="0" tIns="0" bIns="0" anchor="t">
            <a:spAutoFit/>
          </a:bodyPr>
          <a:lstStyle/>
          <a:p>
            <a:pPr algn="l"/>
            <a:r>
              <a:rPr sz="1000" b="0" i="0">
                <a:solidFill>
                  <a:srgbClr val="5F6F73"/>
                </a:solidFill>
                <a:latin typeface="Calibri"/>
              </a:rPr>
              <a:t>Agentic drug synergy  ·  hackathon proposal</a:t>
            </a:r>
          </a:p>
        </p:txBody>
      </p:sp>
      <p:sp>
        <p:nvSpPr>
          <p:cNvPr id="19" name="Slide number"/>
          <p:cNvSpPr txBox="1"/>
          <p:nvPr/>
        </p:nvSpPr>
        <p:spPr>
          <a:xfrm>
            <a:off x="10789920" y="6355080"/>
            <a:ext cx="914400" cy="274320"/>
          </a:xfrm>
          <a:prstGeom prst="rect">
            <a:avLst/>
          </a:prstGeom>
          <a:noFill/>
        </p:spPr>
        <p:txBody>
          <a:bodyPr wrap="square" lIns="0" rIns="0" tIns="0" bIns="0" anchor="t">
            <a:spAutoFit/>
          </a:bodyPr>
          <a:lstStyle/>
          <a:p>
            <a:pPr algn="r"/>
            <a:r>
              <a:rPr sz="1000" b="0" i="0">
                <a:solidFill>
                  <a:srgbClr val="5F6F73"/>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Zetaris, Cursor and Meterless for the agentic drug synergy project</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